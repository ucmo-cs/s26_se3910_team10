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45752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5544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8C50"/>
                </a:solidFill>
              </a:rPr>
              <a:t>Bank Appointment Scheduler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6974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475569"/>
                </a:solidFill>
              </a:rPr>
              <a:t>Demo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337560"/>
            <a:ext cx="3959352" cy="45720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3474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</a:rPr>
              <a:t>Team 10  ·  SE3910  · 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886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5 – 10 minute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F1E3"/>
                </a:solidFill>
              </a:rPr>
              <a:t>Person 1  ·  ~2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389120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6B3D"/>
                </a:solidFill>
              </a:rPr>
              <a:t>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Full-stack bank appointment scheduling app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Customers choose a service, branch, date &amp; time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No phone calls or walk-ins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6B3D"/>
                </a:solidFill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Frontend: React + TypeScript, Vite, Tailwind / shadcn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Backend: Spring Boot REST API (Java)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Database: H2 (in-memory), seeded on startup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669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6B3D"/>
                </a:solidFill>
              </a:rPr>
              <a:t>Key Design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</a:rPr>
              <a:t>Consolidated appointment topics from 12 granular options down to 6 clear categories so customers aren't overwhelmed.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108960"/>
            <a:ext cx="5120640" cy="347472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12724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B3D"/>
                </a:solidFill>
              </a:rPr>
              <a:t>Everyday Banking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12724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Checking, Savings, Student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520440"/>
            <a:ext cx="5120640" cy="347472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53872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B3D"/>
                </a:solidFill>
              </a:rPr>
              <a:t>Mortgages &amp; Home Equity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53872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Mortgage, Home Equity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931920"/>
            <a:ext cx="5120640" cy="347472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950207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B3D"/>
                </a:solidFill>
              </a:rPr>
              <a:t>Loans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950207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Auto Loans, Student Loans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343400"/>
            <a:ext cx="5120640" cy="347472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36168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B3D"/>
                </a:solidFill>
              </a:rPr>
              <a:t>Savings &amp; Investments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36168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CD, Investment, Retirement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754880"/>
            <a:ext cx="5120640" cy="347472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7731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B3D"/>
                </a:solidFill>
              </a:rPr>
              <a:t>Credit Cards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77316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Credit Card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166360"/>
            <a:ext cx="5120640" cy="347472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8464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B3D"/>
                </a:solidFill>
              </a:rPr>
              <a:t>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18464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General inquiries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6309360"/>
            <a:ext cx="2011680" cy="411480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6345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B3D"/>
                </a:solidFill>
              </a:rPr>
              <a:t>Person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Live Demo — Booking an Appointment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F1E3"/>
                </a:solidFill>
              </a:rPr>
              <a:t>Person 2  ·  ~4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51760" cy="50292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Service &amp; 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463040"/>
            <a:ext cx="2651760" cy="502920"/>
          </a:xfrm>
          <a:prstGeom prst="rect">
            <a:avLst/>
          </a:prstGeom>
          <a:solidFill>
            <a:srgbClr val="E6F4ED"/>
          </a:solidFill>
          <a:ln w="12700">
            <a:solidFill>
              <a:srgbClr val="0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6B3D"/>
                </a:solidFill>
              </a:rPr>
              <a:t>2  Date &amp;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2651760" cy="502920"/>
          </a:xfrm>
          <a:prstGeom prst="rect">
            <a:avLst/>
          </a:prstGeom>
          <a:solidFill>
            <a:srgbClr val="E6F4ED"/>
          </a:solidFill>
          <a:ln w="12700">
            <a:solidFill>
              <a:srgbClr val="0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6B3D"/>
                </a:solidFill>
              </a:rPr>
              <a:t>3  Your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1463040"/>
            <a:ext cx="2651760" cy="502920"/>
          </a:xfrm>
          <a:prstGeom prst="rect">
            <a:avLst/>
          </a:prstGeom>
          <a:solidFill>
            <a:srgbClr val="E6F4ED"/>
          </a:solidFill>
          <a:ln w="12700">
            <a:solidFill>
              <a:srgbClr val="0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59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6B3D"/>
                </a:solidFill>
              </a:rPr>
              <a:t>✓  Confirmation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48840"/>
            <a:ext cx="11430000" cy="36576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31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</a:rPr>
              <a:t>Step 1 — Pick a Service &amp; 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260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Navigate to the home page and click "Book an Appointment"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Six service categories appear — select one (e.g. Everyday Banking)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Branch list filters automatically to only locations that offer that service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Select a branch to proceed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94960"/>
            <a:ext cx="11430000" cy="822960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6B3D"/>
                </a:solidFill>
              </a:rPr>
              <a:t>Talking point:  The branch filter is driven by a live API call — GET /api/branches?topicId={id} — so the data is always accurate.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6309360"/>
            <a:ext cx="2011680" cy="411480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6345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B3D"/>
                </a:solidFill>
              </a:rPr>
              <a:t>Person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Live Demo — Booking an Appointment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F1E3"/>
                </a:solidFill>
              </a:rPr>
              <a:t>Person 2  ·  ~4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51760" cy="502920"/>
          </a:xfrm>
          <a:prstGeom prst="rect">
            <a:avLst/>
          </a:prstGeom>
          <a:solidFill>
            <a:srgbClr val="E6F4ED"/>
          </a:solidFill>
          <a:ln w="12700">
            <a:solidFill>
              <a:srgbClr val="0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6B3D"/>
                </a:solidFill>
              </a:rPr>
              <a:t>1  Service &amp; 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463040"/>
            <a:ext cx="2651760" cy="50292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Date &amp;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2651760" cy="502920"/>
          </a:xfrm>
          <a:prstGeom prst="rect">
            <a:avLst/>
          </a:prstGeom>
          <a:solidFill>
            <a:srgbClr val="E6F4ED"/>
          </a:solidFill>
          <a:ln w="12700">
            <a:solidFill>
              <a:srgbClr val="0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6B3D"/>
                </a:solidFill>
              </a:rPr>
              <a:t>3  Your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1463040"/>
            <a:ext cx="2651760" cy="502920"/>
          </a:xfrm>
          <a:prstGeom prst="rect">
            <a:avLst/>
          </a:prstGeom>
          <a:solidFill>
            <a:srgbClr val="E6F4ED"/>
          </a:solidFill>
          <a:ln w="12700">
            <a:solidFill>
              <a:srgbClr val="0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59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6B3D"/>
                </a:solidFill>
              </a:rPr>
              <a:t>✓  Confirmation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48840"/>
            <a:ext cx="11430000" cy="36576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31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</a:rPr>
              <a:t>Step 2 — Pick a Date &amp;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260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Open the calendar picker — past dates are disabled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Select any future date; available time slots load from the API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Already-booked slots are automatically excluded from the list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75569"/>
                </a:solidFill>
              </a:rPr>
              <a:t>•  Click a time slot to select it, then continue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94960"/>
            <a:ext cx="11430000" cy="822960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6B3D"/>
                </a:solidFill>
              </a:rPr>
              <a:t>Talking point:  Slot availability is computed server-side — GET /api/appointments/available-slots?branchId=&amp;date= — so double-booking is impossible.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6309360"/>
            <a:ext cx="2011680" cy="411480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6345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B3D"/>
                </a:solidFill>
              </a:rPr>
              <a:t>Person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Live Demo — Booking an Appointment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F1E3"/>
                </a:solidFill>
              </a:rPr>
              <a:t>Person 2  ·  ~4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51760" cy="502920"/>
          </a:xfrm>
          <a:prstGeom prst="rect">
            <a:avLst/>
          </a:prstGeom>
          <a:solidFill>
            <a:srgbClr val="E6F4ED"/>
          </a:solidFill>
          <a:ln w="12700">
            <a:solidFill>
              <a:srgbClr val="0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6B3D"/>
                </a:solidFill>
              </a:rPr>
              <a:t>1  Service &amp; 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463040"/>
            <a:ext cx="2651760" cy="502920"/>
          </a:xfrm>
          <a:prstGeom prst="rect">
            <a:avLst/>
          </a:prstGeom>
          <a:solidFill>
            <a:srgbClr val="E6F4ED"/>
          </a:solidFill>
          <a:ln w="12700">
            <a:solidFill>
              <a:srgbClr val="0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6B3D"/>
                </a:solidFill>
              </a:rPr>
              <a:t>2  Date &amp;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2651760" cy="50292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Your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1463040"/>
            <a:ext cx="2651760" cy="50292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59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  Confirmation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48840"/>
            <a:ext cx="11430000" cy="36576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31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Step 3 — Enter Your 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75569"/>
                </a:solidFill>
              </a:rPr>
              <a:t>•  Appointment summary shown at the top of the form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75569"/>
                </a:solidFill>
              </a:rPr>
              <a:t>•  Fill in first name, last name, email, phone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75569"/>
                </a:solidFill>
              </a:rPr>
              <a:t>•  Optional notes field for special requests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75569"/>
                </a:solidFill>
              </a:rPr>
              <a:t>•  Click "Confirm Appointment" to 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Confirmation &amp; My Appointments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803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75569"/>
                </a:solidFill>
              </a:rPr>
              <a:t>•  Success screen with "What's Next" checklist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75569"/>
                </a:solidFill>
              </a:rPr>
              <a:t>•  Navigate to My Appointments to see the booking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75569"/>
                </a:solidFill>
              </a:rPr>
              <a:t>•  Cancel button moves appointment to Cancelled section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6309360"/>
            <a:ext cx="2011680" cy="411480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6345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B3D"/>
                </a:solidFill>
              </a:rPr>
              <a:t>Person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Backend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F1E3"/>
                </a:solidFill>
              </a:rPr>
              <a:t>Person 3  ·  ~2–3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097280" cy="438912"/>
          </a:xfrm>
          <a:prstGeom prst="rect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56362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508760"/>
            <a:ext cx="4114800" cy="438912"/>
          </a:xfrm>
          <a:prstGeom prst="rect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56362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508760"/>
            <a:ext cx="5303520" cy="438912"/>
          </a:xfrm>
          <a:prstGeom prst="rect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5636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47672"/>
            <a:ext cx="1097280" cy="438912"/>
          </a:xfrm>
          <a:prstGeom prst="rect">
            <a:avLst/>
          </a:prstGeom>
          <a:solidFill>
            <a:srgbClr val="E6F4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011679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C50"/>
                </a:solidFill>
              </a:rPr>
              <a:t>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1947672"/>
            <a:ext cx="4114800" cy="438912"/>
          </a:xfrm>
          <a:prstGeom prst="rect">
            <a:avLst/>
          </a:prstGeom>
          <a:solidFill>
            <a:srgbClr val="E6F4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81912" y="2011679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/api/topics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947672"/>
            <a:ext cx="5303520" cy="438912"/>
          </a:xfrm>
          <a:prstGeom prst="rect">
            <a:avLst/>
          </a:prstGeom>
          <a:solidFill>
            <a:srgbClr val="E6F4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42432" y="201167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List all 6 service categories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86584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450591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C50"/>
                </a:solidFill>
              </a:rPr>
              <a:t>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238658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81912" y="2450591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/api/branches?topicId={id}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386584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42432" y="245059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Branches that offer a given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25496"/>
            <a:ext cx="1097280" cy="438912"/>
          </a:xfrm>
          <a:prstGeom prst="rect">
            <a:avLst/>
          </a:prstGeom>
          <a:solidFill>
            <a:srgbClr val="E6F4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889503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C50"/>
                </a:solidFill>
              </a:rPr>
              <a:t>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2825496"/>
            <a:ext cx="4114800" cy="438912"/>
          </a:xfrm>
          <a:prstGeom prst="rect">
            <a:avLst/>
          </a:prstGeom>
          <a:solidFill>
            <a:srgbClr val="E6F4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81912" y="2889503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/api/appointments/available-slots?branchId=&amp;date=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2825496"/>
            <a:ext cx="5303520" cy="438912"/>
          </a:xfrm>
          <a:prstGeom prst="rect">
            <a:avLst/>
          </a:prstGeom>
          <a:solidFill>
            <a:srgbClr val="E6F4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42432" y="288950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Open time slots (booked ones excluded)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64408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328415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C50"/>
                </a:solidFill>
              </a:rPr>
              <a:t>POST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8760" y="326440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81912" y="3328415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/api/appointments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3264408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332841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Create a new appointment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703320"/>
            <a:ext cx="1097280" cy="438912"/>
          </a:xfrm>
          <a:prstGeom prst="rect">
            <a:avLst/>
          </a:prstGeom>
          <a:solidFill>
            <a:srgbClr val="E6F4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376732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C50"/>
                </a:solidFill>
              </a:rPr>
              <a:t>PATCH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08760" y="3703320"/>
            <a:ext cx="4114800" cy="438912"/>
          </a:xfrm>
          <a:prstGeom prst="rect">
            <a:avLst/>
          </a:prstGeom>
          <a:solidFill>
            <a:srgbClr val="E6F4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81912" y="376732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/api/appointments/{id}/cancel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3703320"/>
            <a:ext cx="5303520" cy="438912"/>
          </a:xfrm>
          <a:prstGeom prst="rect">
            <a:avLst/>
          </a:prstGeom>
          <a:solidFill>
            <a:srgbClr val="E6F4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42432" y="37673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Cancel an existing appointment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9776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</a:rPr>
              <a:t>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3891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</a:rPr>
              <a:t>•  Spring Boot handles all business logic server-side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</a:rPr>
              <a:t>•  DataInitializer seeds branches &amp; topics on first startup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</a:rPr>
              <a:t>•  H2 in-memory DB — swap to MariaDB for production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9776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</a:rPr>
              <a:t>What's Next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3891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</a:rPr>
              <a:t>•  Auth so customers only see their own appointments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</a:rPr>
              <a:t>•  Email confirmation on booking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</a:rPr>
              <a:t>•  Admin / branch-staff dashboard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20" y="6309360"/>
            <a:ext cx="2011680" cy="411480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0" y="6345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B3D"/>
                </a:solidFill>
              </a:rPr>
              <a:t>Person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575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8288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8C50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926080"/>
            <a:ext cx="3959352" cy="54864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108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</a:rPr>
              <a:t>Team 10  ·  SE3910  ·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